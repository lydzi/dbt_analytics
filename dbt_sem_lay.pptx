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6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381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3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55448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icons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7602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5176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dbt Semantic Layer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3749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of every metric. Any tool. No more spreadsheet wars.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Lydia Chinaparaj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Semantic Layer?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layer is a business-friendly abstraction on top of your data models — standardizing metric definitions, dimensions, and relationships so every tool speaks the same language.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55466" cy="914400"/>
          </a:xfrm>
          <a:prstGeom prst="chevron">
            <a:avLst/>
          </a:prstGeom>
          <a:solidFill>
            <a:srgbClr val="C1440E"/>
          </a:solidFill>
          <a:ln/>
        </p:spPr>
      </p:sp>
      <p:pic>
        <p:nvPicPr>
          <p:cNvPr id="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325" y="192024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8114" y="1691640"/>
            <a:ext cx="3655466" cy="914400"/>
          </a:xfrm>
          <a:prstGeom prst="chevron">
            <a:avLst/>
          </a:prstGeom>
          <a:solidFill>
            <a:srgbClr val="8A3009"/>
          </a:solidFill>
          <a:ln/>
        </p:spPr>
      </p:sp>
      <p:pic>
        <p:nvPicPr>
          <p:cNvPr id="7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520" y="192024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33309" y="1691640"/>
            <a:ext cx="3655466" cy="914400"/>
          </a:xfrm>
          <a:prstGeom prst="chevron">
            <a:avLst/>
          </a:prstGeom>
          <a:solidFill>
            <a:srgbClr val="F2A65A"/>
          </a:solidFill>
          <a:ln/>
        </p:spPr>
      </p:sp>
      <p:pic>
        <p:nvPicPr>
          <p:cNvPr id="9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2714" y="19202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2715768"/>
            <a:ext cx="3381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02920" y="3044952"/>
            <a:ext cx="3472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tables and columns in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268114" y="2715768"/>
            <a:ext cx="3381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268114" y="3044952"/>
            <a:ext cx="3472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dimensions, and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defined once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033309" y="2715768"/>
            <a:ext cx="3381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033309" y="3044952"/>
            <a:ext cx="3472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 and analysts query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metrics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" y="416052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Exists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502920" y="4572000"/>
            <a:ext cx="53643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technical tables into business concepts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one shared definition for metrics like Revenue and Active Customers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each BI tool from reimplementing metric logic differently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24448" y="416052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Implementations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324448" y="4572000"/>
            <a:ext cx="53643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Semantic Layer (MetricFlow)</a:t>
            </a: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metrics as code in dbt YAML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LookML (Looker)</a:t>
            </a: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governed metrics inside Looker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headless semantic layer for metrics APIs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AtScale</a:t>
            </a: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enterprise layer on cloud data platforms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Teams Need a Semantic Layer?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shared definitions, metric logic scatters across dashboards, SQL scripts, and notebooks — producing conflicting answers and eroding data trust.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484778" cy="3383280"/>
          </a:xfrm>
          <a:prstGeom prst="roundRect">
            <a:avLst>
              <a:gd name="adj" fmla="val 2162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3829" y="2286000"/>
            <a:ext cx="822960" cy="8229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6" name="Image 0" descr="icons/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569" y="24917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Mismatch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excludes canceled orders. Marketing includes them. Both call it "Revenue."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458" y="1920240"/>
            <a:ext cx="3484778" cy="3383280"/>
          </a:xfrm>
          <a:prstGeom prst="roundRect">
            <a:avLst>
              <a:gd name="adj" fmla="val 2162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4368" y="2286000"/>
            <a:ext cx="822960" cy="82296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11" name="Image 1" descr="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108" y="24917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2058" y="329184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Customer Mismatch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27778" y="3886200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uses a 30-day window. Sales uses 90 days. Same KPI, different answers.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03997" y="1920240"/>
            <a:ext cx="3484778" cy="3383280"/>
          </a:xfrm>
          <a:prstGeom prst="roundRect">
            <a:avLst>
              <a:gd name="adj" fmla="val 2162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34906" y="2286000"/>
            <a:ext cx="822960" cy="8229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6" name="Image 2" descr="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0646" y="24917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2597" y="329184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AOV Mismatch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78317" y="3886200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uses gross sales, another uses discounted totals. Leadership sees two numbers.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dbt Semantic Layer?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dbt Semantic Layer is dbt's metrics governance layer, powered by MetricFlow. Teams define business metrics once in YAML and query them consistently across every tool — no duplicated SQL, no metric drift.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6" name="Image 0" descr="icons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811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7157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models  </a:t>
            </a: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map dbt models to entities &amp; dimensions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319272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9" name="Image 1" descr="icons/cu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3433572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337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</a:t>
            </a: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reusable KPI definitions (simple, ratio, derived, cumulative, conversion)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3941064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2" name="Image 2" descr="icons/s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405536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9593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queries  </a:t>
            </a: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reusable metric + dimension patterns for consistent reporting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02920" y="4562856"/>
            <a:ext cx="457200" cy="45720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5" name="Image 3" descr="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" y="4677156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58114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spine  </a:t>
            </a: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enables complete time series and period comparisons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02920" y="525780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85800" y="5257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3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logic lives in dbt — versioned, code-reviewed, and propagated from one source of truth.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446520" y="1188720"/>
            <a:ext cx="502920" cy="50292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20" name="Image 4" descr="icons/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131445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17920" y="1719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7631354" y="1188720"/>
            <a:ext cx="502920" cy="50292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23" name="Image 5" descr="icons/bo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7084" y="1314450"/>
            <a:ext cx="251460" cy="2514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02754" y="1719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8816188" y="1188720"/>
            <a:ext cx="502920" cy="50292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26" name="Image 6" descr="icons/cub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1918" y="1314450"/>
            <a:ext cx="251460" cy="2514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587588" y="1719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10001021" y="1188720"/>
            <a:ext cx="502920" cy="50292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29" name="Image 7" descr="icons/fold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6751" y="1314450"/>
            <a:ext cx="251460" cy="2514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772421" y="1719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11185855" y="1188720"/>
            <a:ext cx="502920" cy="50292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32" name="Image 8" descr="icons/ey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11585" y="1314450"/>
            <a:ext cx="251460" cy="2514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0957255" y="1719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9067648" y="2212848"/>
            <a:ext cx="0" cy="256032"/>
          </a:xfrm>
          <a:prstGeom prst="line">
            <a:avLst/>
          </a:prstGeom>
          <a:noFill/>
          <a:ln w="19050">
            <a:solidFill>
              <a:srgbClr val="6B5B4E"/>
            </a:solidFill>
            <a:prstDash val="solid"/>
            <a:tailEnd type="triangle"/>
          </a:ln>
        </p:spPr>
      </p:sp>
      <p:sp>
        <p:nvSpPr>
          <p:cNvPr id="35" name="Shape 24"/>
          <p:cNvSpPr/>
          <p:nvPr/>
        </p:nvSpPr>
        <p:spPr>
          <a:xfrm>
            <a:off x="6446520" y="2560320"/>
            <a:ext cx="5242255" cy="777240"/>
          </a:xfrm>
          <a:prstGeom prst="roundRect">
            <a:avLst>
              <a:gd name="adj" fmla="val 11765"/>
            </a:avLst>
          </a:prstGeom>
          <a:solidFill>
            <a:srgbClr val="C1440E"/>
          </a:solidFill>
          <a:ln/>
        </p:spPr>
      </p:sp>
      <p:sp>
        <p:nvSpPr>
          <p:cNvPr id="36" name="Text 25"/>
          <p:cNvSpPr/>
          <p:nvPr/>
        </p:nvSpPr>
        <p:spPr>
          <a:xfrm>
            <a:off x="6446520" y="2560320"/>
            <a:ext cx="5242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Semantic Layer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(MetricFlow)</a:t>
            </a:r>
            <a:endParaRPr lang="en-US" sz="1500" dirty="0"/>
          </a:p>
        </p:txBody>
      </p:sp>
      <p:sp>
        <p:nvSpPr>
          <p:cNvPr id="37" name="Shape 26"/>
          <p:cNvSpPr/>
          <p:nvPr/>
        </p:nvSpPr>
        <p:spPr>
          <a:xfrm>
            <a:off x="9067648" y="3364992"/>
            <a:ext cx="0" cy="256032"/>
          </a:xfrm>
          <a:prstGeom prst="line">
            <a:avLst/>
          </a:prstGeom>
          <a:noFill/>
          <a:ln w="19050">
            <a:solidFill>
              <a:srgbClr val="6B5B4E"/>
            </a:solidFill>
            <a:prstDash val="solid"/>
            <a:tailEnd type="triangle"/>
          </a:ln>
        </p:spPr>
      </p:sp>
      <p:sp>
        <p:nvSpPr>
          <p:cNvPr id="38" name="Shape 27"/>
          <p:cNvSpPr/>
          <p:nvPr/>
        </p:nvSpPr>
        <p:spPr>
          <a:xfrm>
            <a:off x="6446520" y="37947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6611112" y="397764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0" name="Image 9" descr="icons/serv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5412" y="4091940"/>
            <a:ext cx="228600" cy="2286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178040" y="3794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9585655" y="37947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9750247" y="397764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4" name="Image 10" descr="icons/clou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4547" y="4091940"/>
            <a:ext cx="228600" cy="22860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10317175" y="3794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Platform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6446520" y="4892040"/>
            <a:ext cx="5242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query one governed layer instead of the warehouse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the dbt Semantic Layer maps to a distinct role — from raw model grain to queryable business KPI.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6" name="Image 0" descr="icons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9339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Business-facing metadata layer on top of a dbt model. Defines entities and dimensions at a known grain. Example: orders model on ref('orders').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73736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2011680"/>
            <a:ext cx="594360" cy="5943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1" name="Image 1" descr="icons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638" y="21602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0288" y="199339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&amp; Dimension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3048" y="269748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are identifiers for joins (e.g. order_id, customer_id). Dimensions slice and filter results — categorical or time-based.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402336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16" name="Image 2" descr="icons/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4462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7939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Metric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240" y="498348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Aggregatable KPI defined with type: simple using sum, count, or count_distinct. Example: total_revenue with agg: sum.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402336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3048" y="4297680"/>
            <a:ext cx="594360" cy="59436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21" name="Image 3" descr="icons/sa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638" y="444627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0288" y="4279392"/>
            <a:ext cx="412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Query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53048" y="498348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query definition for common metric + dimension outputs. Standardizes recurring reporting views. Example: daily revenue by country.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 definition powers many tools simultaneously — eliminating dashboard-specific SQL and duplicate logic.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5" name="Image 0" descr="icons/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105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integrations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121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Tableau, Google Sheets, Excel, and more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9" name="Image 1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346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791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990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GraphQL, JDBC, ADBC, and Python APIs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56616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3" name="Image 2" descr="icons/ex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033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547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queries &amp; exports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858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repeated workloads and non-native tools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448056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8" name="Image 3" descr="icons/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83489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5720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3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tip: </a:t>
            </a:r>
            <a:r>
              <a:rPr lang="en-US" sz="12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high-impact KPIs in one or two tools, then expand coverage incrementally.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Tradeoffs &amp;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Layer is powerful — but it comes with real costs and constraints worth planning for.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Tradeoffs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02920" cy="50292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6" name="Image 0" descr="icons/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2745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1305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Required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441448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clean marts, consistent grain, and reliable tests before it pays off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10" name="Image 1" descr="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2346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Overhead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401568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ownership, review process, and change management add real work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4069080"/>
            <a:ext cx="502920" cy="502920"/>
          </a:xfrm>
          <a:prstGeom prst="ellipse">
            <a:avLst/>
          </a:prstGeom>
          <a:solidFill>
            <a:srgbClr val="8A3009"/>
          </a:solidFill>
          <a:ln/>
        </p:spPr>
      </p:sp>
      <p:pic>
        <p:nvPicPr>
          <p:cNvPr id="14" name="Image 2" descr="icons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9481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05079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Cost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361688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query generation can increase compute for broad exploratory slicing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324448" y="169164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dbt-Specific Constraints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24448" y="2148840"/>
            <a:ext cx="5364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Semantic Layer APIs require dbt Cloud Starter/Enterprise plans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Core users get MetricFlow locally — not hosted APIs or native integrations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tools need exports or custom API usage; not all are natively supported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platforms: Snowflake, BigQuery, Databricks, Redshift, Postgres, Trino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5806440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FDEEE1"/>
          </a:solidFill>
          <a:ln w="9525">
            <a:solidFill>
              <a:srgbClr val="F3D5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" y="58064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3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improves consistency and reuse — but it is not the right fit for every analytics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 vs. Something Else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tool for the job — the Semantic Layer excels at governed, reusable KPIs shared across teams, but lighter-weight alternatives win for simpler, contained use cases.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064240" cy="4535424"/>
        </p:xfrm>
        <a:graphic>
          <a:graphicData uri="http://schemas.openxmlformats.org/drawingml/2006/table">
            <a:tbl>
              <a:tblPr/>
              <a:tblGrid>
                <a:gridCol w="6035040"/>
                <a:gridCol w="50292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KPI used across multiple teams or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A30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Semantic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KPI definition drift and low data trust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A30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Semantic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governed self-service with reusable dimensions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A30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Semantic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team, one dashboard, very stable requirements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SQL or model in BI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recurring report with no slicing needs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Precomputed mart, export, or materialized 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custom one-off analysis or experimentation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hoc SQL or notebook 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low-latency serving requirements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Pre-aggregated tables + cache (optionally with Semantic Layer)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 Anywhere Analysts Already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dbt Semantic Layer add-on installs directly into Google Sheets, meeting teams in their existing workflow.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4040" y="1581912"/>
            <a:ext cx="10643616" cy="5192371"/>
          </a:xfrm>
          <a:prstGeom prst="roundRect">
            <a:avLst>
              <a:gd name="adj" fmla="val 1057"/>
            </a:avLst>
          </a:prstGeom>
          <a:solidFill>
            <a:srgbClr val="FFFFFF"/>
          </a:solidFill>
          <a:ln w="19050">
            <a:solidFill>
              <a:srgbClr val="C1440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assets/screensh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691640"/>
            <a:ext cx="10424160" cy="49729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30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Action: Query Builder in Sheets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pull governed metrics like revenue directly into Google Sheets — no manual SQL, no duplicated logic.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4040" y="1581912"/>
            <a:ext cx="10643616" cy="5222536"/>
          </a:xfrm>
          <a:prstGeom prst="roundRect">
            <a:avLst>
              <a:gd name="adj" fmla="val 1051"/>
            </a:avLst>
          </a:prstGeom>
          <a:solidFill>
            <a:srgbClr val="FFFFFF"/>
          </a:solidFill>
          <a:ln w="19050">
            <a:solidFill>
              <a:srgbClr val="C1440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assets/screensho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691640"/>
            <a:ext cx="10424160" cy="5003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904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3</cp:revision>
  <dcterms:created xsi:type="dcterms:W3CDTF">2026-07-30T09:16:55Z</dcterms:created>
  <dcterms:modified xsi:type="dcterms:W3CDTF">2026-08-12T18:15:11Z</dcterms:modified>
</cp:coreProperties>
</file>